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2353854-AD99-42FB-AB2A-20F9BFD48452}" type="doc">
      <dgm:prSet loTypeId="urn:microsoft.com/office/officeart/2005/8/layout/vProcess5" loCatId="process" qsTypeId="urn:microsoft.com/office/officeart/2005/8/quickstyle/simple4" qsCatId="simple" csTypeId="urn:microsoft.com/office/officeart/2005/8/colors/accent3_2" csCatId="accent3" phldr="1"/>
      <dgm:spPr/>
    </dgm:pt>
    <dgm:pt modelId="{9B30F0CB-10AF-4600-9DD8-9E00EF4E1C3E}">
      <dgm:prSet phldrT="[Text]"/>
      <dgm:spPr/>
      <dgm:t>
        <a:bodyPr/>
        <a:lstStyle/>
        <a:p>
          <a:pPr>
            <a:defRPr cap="all"/>
          </a:pPr>
          <a:r>
            <a:rPr lang="en-CA"/>
            <a:t>Original Image</a:t>
          </a:r>
        </a:p>
      </dgm:t>
    </dgm:pt>
    <dgm:pt modelId="{8DB2224A-9F71-4450-AF97-98B76DC2B72A}" type="parTrans" cxnId="{9ECF2D58-2984-442A-84FD-A3AD27CD16BB}">
      <dgm:prSet/>
      <dgm:spPr/>
      <dgm:t>
        <a:bodyPr/>
        <a:lstStyle/>
        <a:p>
          <a:endParaRPr lang="en-CA"/>
        </a:p>
      </dgm:t>
    </dgm:pt>
    <dgm:pt modelId="{95A74992-81D5-477B-B26E-D6987C09B432}" type="sibTrans" cxnId="{9ECF2D58-2984-442A-84FD-A3AD27CD16BB}">
      <dgm:prSet/>
      <dgm:spPr/>
      <dgm:t>
        <a:bodyPr/>
        <a:lstStyle/>
        <a:p>
          <a:endParaRPr lang="en-CA"/>
        </a:p>
      </dgm:t>
    </dgm:pt>
    <dgm:pt modelId="{D71E9ED9-319E-4430-A219-6F09706EC1F1}">
      <dgm:prSet phldrT="[Text]"/>
      <dgm:spPr/>
      <dgm:t>
        <a:bodyPr/>
        <a:lstStyle/>
        <a:p>
          <a:pPr>
            <a:defRPr cap="all"/>
          </a:pPr>
          <a:r>
            <a:rPr lang="en-CA"/>
            <a:t>Resize </a:t>
          </a:r>
        </a:p>
      </dgm:t>
    </dgm:pt>
    <dgm:pt modelId="{3FB261B6-7701-4009-81A5-FAFAAB872589}" type="parTrans" cxnId="{2D44637B-3FC4-44B1-AA49-0B7FC6CDA5CA}">
      <dgm:prSet/>
      <dgm:spPr/>
      <dgm:t>
        <a:bodyPr/>
        <a:lstStyle/>
        <a:p>
          <a:endParaRPr lang="en-CA"/>
        </a:p>
      </dgm:t>
    </dgm:pt>
    <dgm:pt modelId="{FE7E1B9A-4687-4875-A5A4-9FB1FD689C34}" type="sibTrans" cxnId="{2D44637B-3FC4-44B1-AA49-0B7FC6CDA5CA}">
      <dgm:prSet/>
      <dgm:spPr/>
      <dgm:t>
        <a:bodyPr/>
        <a:lstStyle/>
        <a:p>
          <a:endParaRPr lang="en-CA"/>
        </a:p>
      </dgm:t>
    </dgm:pt>
    <dgm:pt modelId="{B1D1AC85-539F-49FB-BB15-54997AF51F0D}">
      <dgm:prSet phldrT="[Text]"/>
      <dgm:spPr/>
      <dgm:t>
        <a:bodyPr/>
        <a:lstStyle/>
        <a:p>
          <a:pPr>
            <a:defRPr cap="all"/>
          </a:pPr>
          <a:r>
            <a:rPr lang="en-CA"/>
            <a:t>Tensor </a:t>
          </a:r>
        </a:p>
      </dgm:t>
    </dgm:pt>
    <dgm:pt modelId="{E7DC7AAA-2B7F-4E9B-879B-B373E71243DC}" type="parTrans" cxnId="{BB6D76BF-3304-45C0-BAC6-C9FE14B02302}">
      <dgm:prSet/>
      <dgm:spPr/>
      <dgm:t>
        <a:bodyPr/>
        <a:lstStyle/>
        <a:p>
          <a:endParaRPr lang="en-CA"/>
        </a:p>
      </dgm:t>
    </dgm:pt>
    <dgm:pt modelId="{97A5E531-F2E2-4FC2-8001-43B6940E569B}" type="sibTrans" cxnId="{BB6D76BF-3304-45C0-BAC6-C9FE14B02302}">
      <dgm:prSet/>
      <dgm:spPr/>
      <dgm:t>
        <a:bodyPr/>
        <a:lstStyle/>
        <a:p>
          <a:endParaRPr lang="en-CA"/>
        </a:p>
      </dgm:t>
    </dgm:pt>
    <dgm:pt modelId="{BA8B069A-1FF8-4797-B617-74142CB286F3}">
      <dgm:prSet phldrT="[Text]" phldr="0"/>
      <dgm:spPr/>
      <dgm:t>
        <a:bodyPr/>
        <a:lstStyle/>
        <a:p>
          <a:pPr>
            <a:defRPr cap="all"/>
          </a:pPr>
          <a:r>
            <a:rPr lang="en-CA" dirty="0"/>
            <a:t>Normalized Output</a:t>
          </a:r>
        </a:p>
      </dgm:t>
    </dgm:pt>
    <dgm:pt modelId="{9B621708-BF65-4F88-AA41-BC048E449913}" type="parTrans" cxnId="{5F527BC9-8F9A-47B5-B6BC-0563FE5A10CB}">
      <dgm:prSet/>
      <dgm:spPr/>
      <dgm:t>
        <a:bodyPr/>
        <a:lstStyle/>
        <a:p>
          <a:endParaRPr lang="en-CA"/>
        </a:p>
      </dgm:t>
    </dgm:pt>
    <dgm:pt modelId="{07A248D4-422D-499E-A61B-6CA70489ED30}" type="sibTrans" cxnId="{5F527BC9-8F9A-47B5-B6BC-0563FE5A10CB}">
      <dgm:prSet/>
      <dgm:spPr/>
      <dgm:t>
        <a:bodyPr/>
        <a:lstStyle/>
        <a:p>
          <a:endParaRPr lang="en-CA"/>
        </a:p>
      </dgm:t>
    </dgm:pt>
    <dgm:pt modelId="{450A613D-F334-458C-9069-78D181701AD3}" type="pres">
      <dgm:prSet presAssocID="{32353854-AD99-42FB-AB2A-20F9BFD48452}" presName="outerComposite" presStyleCnt="0">
        <dgm:presLayoutVars>
          <dgm:chMax val="5"/>
          <dgm:dir/>
          <dgm:resizeHandles val="exact"/>
        </dgm:presLayoutVars>
      </dgm:prSet>
      <dgm:spPr/>
    </dgm:pt>
    <dgm:pt modelId="{E5A43193-913C-4FF5-A388-16C0EA844D95}" type="pres">
      <dgm:prSet presAssocID="{32353854-AD99-42FB-AB2A-20F9BFD48452}" presName="dummyMaxCanvas" presStyleCnt="0">
        <dgm:presLayoutVars/>
      </dgm:prSet>
      <dgm:spPr/>
    </dgm:pt>
    <dgm:pt modelId="{6786B431-1BDF-46EE-99EE-EA87D6E093F1}" type="pres">
      <dgm:prSet presAssocID="{32353854-AD99-42FB-AB2A-20F9BFD48452}" presName="FourNodes_1" presStyleLbl="node1" presStyleIdx="0" presStyleCnt="4">
        <dgm:presLayoutVars>
          <dgm:bulletEnabled val="1"/>
        </dgm:presLayoutVars>
      </dgm:prSet>
      <dgm:spPr/>
    </dgm:pt>
    <dgm:pt modelId="{A34977DB-8713-4DF3-8E20-7F63A8DBC930}" type="pres">
      <dgm:prSet presAssocID="{32353854-AD99-42FB-AB2A-20F9BFD48452}" presName="FourNodes_2" presStyleLbl="node1" presStyleIdx="1" presStyleCnt="4">
        <dgm:presLayoutVars>
          <dgm:bulletEnabled val="1"/>
        </dgm:presLayoutVars>
      </dgm:prSet>
      <dgm:spPr/>
    </dgm:pt>
    <dgm:pt modelId="{F2B20153-3DB0-4B0A-A738-CBDCDB0C7870}" type="pres">
      <dgm:prSet presAssocID="{32353854-AD99-42FB-AB2A-20F9BFD48452}" presName="FourNodes_3" presStyleLbl="node1" presStyleIdx="2" presStyleCnt="4">
        <dgm:presLayoutVars>
          <dgm:bulletEnabled val="1"/>
        </dgm:presLayoutVars>
      </dgm:prSet>
      <dgm:spPr/>
    </dgm:pt>
    <dgm:pt modelId="{3DE72F19-9AE1-43BA-B3E8-6A57349446F7}" type="pres">
      <dgm:prSet presAssocID="{32353854-AD99-42FB-AB2A-20F9BFD48452}" presName="FourNodes_4" presStyleLbl="node1" presStyleIdx="3" presStyleCnt="4">
        <dgm:presLayoutVars>
          <dgm:bulletEnabled val="1"/>
        </dgm:presLayoutVars>
      </dgm:prSet>
      <dgm:spPr/>
    </dgm:pt>
    <dgm:pt modelId="{2DF9C0AF-2E26-4A2C-B2CA-462351A31242}" type="pres">
      <dgm:prSet presAssocID="{32353854-AD99-42FB-AB2A-20F9BFD48452}" presName="FourConn_1-2" presStyleLbl="fgAccFollowNode1" presStyleIdx="0" presStyleCnt="3">
        <dgm:presLayoutVars>
          <dgm:bulletEnabled val="1"/>
        </dgm:presLayoutVars>
      </dgm:prSet>
      <dgm:spPr/>
    </dgm:pt>
    <dgm:pt modelId="{A7ED20FF-F257-4F09-9A39-4ADF482219EE}" type="pres">
      <dgm:prSet presAssocID="{32353854-AD99-42FB-AB2A-20F9BFD48452}" presName="FourConn_2-3" presStyleLbl="fgAccFollowNode1" presStyleIdx="1" presStyleCnt="3">
        <dgm:presLayoutVars>
          <dgm:bulletEnabled val="1"/>
        </dgm:presLayoutVars>
      </dgm:prSet>
      <dgm:spPr/>
    </dgm:pt>
    <dgm:pt modelId="{1AEB3922-8FA0-4B6A-8D09-965FE05A76AC}" type="pres">
      <dgm:prSet presAssocID="{32353854-AD99-42FB-AB2A-20F9BFD48452}" presName="FourConn_3-4" presStyleLbl="fgAccFollowNode1" presStyleIdx="2" presStyleCnt="3">
        <dgm:presLayoutVars>
          <dgm:bulletEnabled val="1"/>
        </dgm:presLayoutVars>
      </dgm:prSet>
      <dgm:spPr/>
    </dgm:pt>
    <dgm:pt modelId="{EBBC7BAC-7C0B-4CA6-8E5B-051BB24B6BCE}" type="pres">
      <dgm:prSet presAssocID="{32353854-AD99-42FB-AB2A-20F9BFD48452}" presName="FourNodes_1_text" presStyleLbl="node1" presStyleIdx="3" presStyleCnt="4">
        <dgm:presLayoutVars>
          <dgm:bulletEnabled val="1"/>
        </dgm:presLayoutVars>
      </dgm:prSet>
      <dgm:spPr/>
    </dgm:pt>
    <dgm:pt modelId="{CB4B4510-BBB1-4821-A882-B2985EA8B529}" type="pres">
      <dgm:prSet presAssocID="{32353854-AD99-42FB-AB2A-20F9BFD48452}" presName="FourNodes_2_text" presStyleLbl="node1" presStyleIdx="3" presStyleCnt="4">
        <dgm:presLayoutVars>
          <dgm:bulletEnabled val="1"/>
        </dgm:presLayoutVars>
      </dgm:prSet>
      <dgm:spPr/>
    </dgm:pt>
    <dgm:pt modelId="{7780AABA-9927-4E08-BDD3-4086979DBC17}" type="pres">
      <dgm:prSet presAssocID="{32353854-AD99-42FB-AB2A-20F9BFD48452}" presName="FourNodes_3_text" presStyleLbl="node1" presStyleIdx="3" presStyleCnt="4">
        <dgm:presLayoutVars>
          <dgm:bulletEnabled val="1"/>
        </dgm:presLayoutVars>
      </dgm:prSet>
      <dgm:spPr/>
    </dgm:pt>
    <dgm:pt modelId="{E64BB7CF-1181-4F5D-B5E5-9EDF1BA99CDC}" type="pres">
      <dgm:prSet presAssocID="{32353854-AD99-42FB-AB2A-20F9BFD48452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201CFB0B-F5D3-415F-81F3-9BACA17964C4}" type="presOf" srcId="{9B30F0CB-10AF-4600-9DD8-9E00EF4E1C3E}" destId="{6786B431-1BDF-46EE-99EE-EA87D6E093F1}" srcOrd="0" destOrd="0" presId="urn:microsoft.com/office/officeart/2005/8/layout/vProcess5"/>
    <dgm:cxn modelId="{14E63D2C-4C32-4BDF-AC74-6FE06280FEE7}" type="presOf" srcId="{B1D1AC85-539F-49FB-BB15-54997AF51F0D}" destId="{7780AABA-9927-4E08-BDD3-4086979DBC17}" srcOrd="1" destOrd="0" presId="urn:microsoft.com/office/officeart/2005/8/layout/vProcess5"/>
    <dgm:cxn modelId="{05ADBD2C-BC62-4C96-9232-0DA22FD739E3}" type="presOf" srcId="{97A5E531-F2E2-4FC2-8001-43B6940E569B}" destId="{1AEB3922-8FA0-4B6A-8D09-965FE05A76AC}" srcOrd="0" destOrd="0" presId="urn:microsoft.com/office/officeart/2005/8/layout/vProcess5"/>
    <dgm:cxn modelId="{ADF41B30-7857-4C2D-967B-2AFF2772CF8D}" type="presOf" srcId="{32353854-AD99-42FB-AB2A-20F9BFD48452}" destId="{450A613D-F334-458C-9069-78D181701AD3}" srcOrd="0" destOrd="0" presId="urn:microsoft.com/office/officeart/2005/8/layout/vProcess5"/>
    <dgm:cxn modelId="{C8FF8F3D-0318-43C0-AAA3-DFDCCDB95069}" type="presOf" srcId="{9B30F0CB-10AF-4600-9DD8-9E00EF4E1C3E}" destId="{EBBC7BAC-7C0B-4CA6-8E5B-051BB24B6BCE}" srcOrd="1" destOrd="0" presId="urn:microsoft.com/office/officeart/2005/8/layout/vProcess5"/>
    <dgm:cxn modelId="{5D63E149-A750-424F-8C30-8C4AABD361BD}" type="presOf" srcId="{D71E9ED9-319E-4430-A219-6F09706EC1F1}" destId="{CB4B4510-BBB1-4821-A882-B2985EA8B529}" srcOrd="1" destOrd="0" presId="urn:microsoft.com/office/officeart/2005/8/layout/vProcess5"/>
    <dgm:cxn modelId="{9ECF2D58-2984-442A-84FD-A3AD27CD16BB}" srcId="{32353854-AD99-42FB-AB2A-20F9BFD48452}" destId="{9B30F0CB-10AF-4600-9DD8-9E00EF4E1C3E}" srcOrd="0" destOrd="0" parTransId="{8DB2224A-9F71-4450-AF97-98B76DC2B72A}" sibTransId="{95A74992-81D5-477B-B26E-D6987C09B432}"/>
    <dgm:cxn modelId="{2D44637B-3FC4-44B1-AA49-0B7FC6CDA5CA}" srcId="{32353854-AD99-42FB-AB2A-20F9BFD48452}" destId="{D71E9ED9-319E-4430-A219-6F09706EC1F1}" srcOrd="1" destOrd="0" parTransId="{3FB261B6-7701-4009-81A5-FAFAAB872589}" sibTransId="{FE7E1B9A-4687-4875-A5A4-9FB1FD689C34}"/>
    <dgm:cxn modelId="{7A7D2E7F-4965-4090-9BD1-5AC5E4BCB543}" type="presOf" srcId="{BA8B069A-1FF8-4797-B617-74142CB286F3}" destId="{E64BB7CF-1181-4F5D-B5E5-9EDF1BA99CDC}" srcOrd="1" destOrd="0" presId="urn:microsoft.com/office/officeart/2005/8/layout/vProcess5"/>
    <dgm:cxn modelId="{084915B6-528C-4DA5-9802-046D4D9CAF64}" type="presOf" srcId="{FE7E1B9A-4687-4875-A5A4-9FB1FD689C34}" destId="{A7ED20FF-F257-4F09-9A39-4ADF482219EE}" srcOrd="0" destOrd="0" presId="urn:microsoft.com/office/officeart/2005/8/layout/vProcess5"/>
    <dgm:cxn modelId="{BB6D76BF-3304-45C0-BAC6-C9FE14B02302}" srcId="{32353854-AD99-42FB-AB2A-20F9BFD48452}" destId="{B1D1AC85-539F-49FB-BB15-54997AF51F0D}" srcOrd="2" destOrd="0" parTransId="{E7DC7AAA-2B7F-4E9B-879B-B373E71243DC}" sibTransId="{97A5E531-F2E2-4FC2-8001-43B6940E569B}"/>
    <dgm:cxn modelId="{1AB56AC5-E0A0-44DA-A41E-6504CC6B57CB}" type="presOf" srcId="{95A74992-81D5-477B-B26E-D6987C09B432}" destId="{2DF9C0AF-2E26-4A2C-B2CA-462351A31242}" srcOrd="0" destOrd="0" presId="urn:microsoft.com/office/officeart/2005/8/layout/vProcess5"/>
    <dgm:cxn modelId="{5F527BC9-8F9A-47B5-B6BC-0563FE5A10CB}" srcId="{32353854-AD99-42FB-AB2A-20F9BFD48452}" destId="{BA8B069A-1FF8-4797-B617-74142CB286F3}" srcOrd="3" destOrd="0" parTransId="{9B621708-BF65-4F88-AA41-BC048E449913}" sibTransId="{07A248D4-422D-499E-A61B-6CA70489ED30}"/>
    <dgm:cxn modelId="{FC421DDF-0040-4747-8857-7626BB2DC3D3}" type="presOf" srcId="{B1D1AC85-539F-49FB-BB15-54997AF51F0D}" destId="{F2B20153-3DB0-4B0A-A738-CBDCDB0C7870}" srcOrd="0" destOrd="0" presId="urn:microsoft.com/office/officeart/2005/8/layout/vProcess5"/>
    <dgm:cxn modelId="{952E5EDF-02CE-42DA-8642-36E7273FF7CA}" type="presOf" srcId="{BA8B069A-1FF8-4797-B617-74142CB286F3}" destId="{3DE72F19-9AE1-43BA-B3E8-6A57349446F7}" srcOrd="0" destOrd="0" presId="urn:microsoft.com/office/officeart/2005/8/layout/vProcess5"/>
    <dgm:cxn modelId="{F06ABCF1-6325-492B-9A74-F5F72E0159E5}" type="presOf" srcId="{D71E9ED9-319E-4430-A219-6F09706EC1F1}" destId="{A34977DB-8713-4DF3-8E20-7F63A8DBC930}" srcOrd="0" destOrd="0" presId="urn:microsoft.com/office/officeart/2005/8/layout/vProcess5"/>
    <dgm:cxn modelId="{5BE7A47E-B092-44A0-875A-7D82AF5DEF11}" type="presParOf" srcId="{450A613D-F334-458C-9069-78D181701AD3}" destId="{E5A43193-913C-4FF5-A388-16C0EA844D95}" srcOrd="0" destOrd="0" presId="urn:microsoft.com/office/officeart/2005/8/layout/vProcess5"/>
    <dgm:cxn modelId="{421999B1-CB48-4854-B6F5-AD458D646A1D}" type="presParOf" srcId="{450A613D-F334-458C-9069-78D181701AD3}" destId="{6786B431-1BDF-46EE-99EE-EA87D6E093F1}" srcOrd="1" destOrd="0" presId="urn:microsoft.com/office/officeart/2005/8/layout/vProcess5"/>
    <dgm:cxn modelId="{F0DFB5D4-AAD1-4318-9778-6EFE0E2FC5D4}" type="presParOf" srcId="{450A613D-F334-458C-9069-78D181701AD3}" destId="{A34977DB-8713-4DF3-8E20-7F63A8DBC930}" srcOrd="2" destOrd="0" presId="urn:microsoft.com/office/officeart/2005/8/layout/vProcess5"/>
    <dgm:cxn modelId="{896B38F1-C909-4504-B804-8582E012E974}" type="presParOf" srcId="{450A613D-F334-458C-9069-78D181701AD3}" destId="{F2B20153-3DB0-4B0A-A738-CBDCDB0C7870}" srcOrd="3" destOrd="0" presId="urn:microsoft.com/office/officeart/2005/8/layout/vProcess5"/>
    <dgm:cxn modelId="{626B87A1-3D81-4482-B67B-3E34F29713FB}" type="presParOf" srcId="{450A613D-F334-458C-9069-78D181701AD3}" destId="{3DE72F19-9AE1-43BA-B3E8-6A57349446F7}" srcOrd="4" destOrd="0" presId="urn:microsoft.com/office/officeart/2005/8/layout/vProcess5"/>
    <dgm:cxn modelId="{3B27382B-A778-4D4B-88F7-60DD956106E2}" type="presParOf" srcId="{450A613D-F334-458C-9069-78D181701AD3}" destId="{2DF9C0AF-2E26-4A2C-B2CA-462351A31242}" srcOrd="5" destOrd="0" presId="urn:microsoft.com/office/officeart/2005/8/layout/vProcess5"/>
    <dgm:cxn modelId="{04C10352-9F6E-4A0A-A7FD-ABF70CBB2073}" type="presParOf" srcId="{450A613D-F334-458C-9069-78D181701AD3}" destId="{A7ED20FF-F257-4F09-9A39-4ADF482219EE}" srcOrd="6" destOrd="0" presId="urn:microsoft.com/office/officeart/2005/8/layout/vProcess5"/>
    <dgm:cxn modelId="{09F961A2-C217-4602-B348-9807DF13B1AA}" type="presParOf" srcId="{450A613D-F334-458C-9069-78D181701AD3}" destId="{1AEB3922-8FA0-4B6A-8D09-965FE05A76AC}" srcOrd="7" destOrd="0" presId="urn:microsoft.com/office/officeart/2005/8/layout/vProcess5"/>
    <dgm:cxn modelId="{19B261A8-8A2D-4694-9D83-A37A2B288FD2}" type="presParOf" srcId="{450A613D-F334-458C-9069-78D181701AD3}" destId="{EBBC7BAC-7C0B-4CA6-8E5B-051BB24B6BCE}" srcOrd="8" destOrd="0" presId="urn:microsoft.com/office/officeart/2005/8/layout/vProcess5"/>
    <dgm:cxn modelId="{202209C5-77D2-4906-8F31-62B50F84B6B4}" type="presParOf" srcId="{450A613D-F334-458C-9069-78D181701AD3}" destId="{CB4B4510-BBB1-4821-A882-B2985EA8B529}" srcOrd="9" destOrd="0" presId="urn:microsoft.com/office/officeart/2005/8/layout/vProcess5"/>
    <dgm:cxn modelId="{53998037-5259-4998-8231-156484957E54}" type="presParOf" srcId="{450A613D-F334-458C-9069-78D181701AD3}" destId="{7780AABA-9927-4E08-BDD3-4086979DBC17}" srcOrd="10" destOrd="0" presId="urn:microsoft.com/office/officeart/2005/8/layout/vProcess5"/>
    <dgm:cxn modelId="{1A64D196-E828-4A7E-AD03-4D01B15A64D6}" type="presParOf" srcId="{450A613D-F334-458C-9069-78D181701AD3}" destId="{E64BB7CF-1181-4F5D-B5E5-9EDF1BA99CDC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86B431-1BDF-46EE-99EE-EA87D6E093F1}">
      <dsp:nvSpPr>
        <dsp:cNvPr id="0" name=""/>
        <dsp:cNvSpPr/>
      </dsp:nvSpPr>
      <dsp:spPr>
        <a:xfrm>
          <a:off x="0" y="0"/>
          <a:ext cx="4196215" cy="86502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0000"/>
                <a:lumMod val="100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hade val="99000"/>
                <a:satMod val="105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A" sz="2300" kern="1200"/>
            <a:t>Original Image</a:t>
          </a:r>
        </a:p>
      </dsp:txBody>
      <dsp:txXfrm>
        <a:off x="25336" y="25336"/>
        <a:ext cx="3189693" cy="814350"/>
      </dsp:txXfrm>
    </dsp:sp>
    <dsp:sp modelId="{A34977DB-8713-4DF3-8E20-7F63A8DBC930}">
      <dsp:nvSpPr>
        <dsp:cNvPr id="0" name=""/>
        <dsp:cNvSpPr/>
      </dsp:nvSpPr>
      <dsp:spPr>
        <a:xfrm>
          <a:off x="351433" y="1022299"/>
          <a:ext cx="4196215" cy="86502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0000"/>
                <a:lumMod val="100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hade val="99000"/>
                <a:satMod val="105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A" sz="2300" kern="1200"/>
            <a:t>Resize </a:t>
          </a:r>
        </a:p>
      </dsp:txBody>
      <dsp:txXfrm>
        <a:off x="376769" y="1047635"/>
        <a:ext cx="3231845" cy="814350"/>
      </dsp:txXfrm>
    </dsp:sp>
    <dsp:sp modelId="{F2B20153-3DB0-4B0A-A738-CBDCDB0C7870}">
      <dsp:nvSpPr>
        <dsp:cNvPr id="0" name=""/>
        <dsp:cNvSpPr/>
      </dsp:nvSpPr>
      <dsp:spPr>
        <a:xfrm>
          <a:off x="697620" y="2044598"/>
          <a:ext cx="4196215" cy="86502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0000"/>
                <a:lumMod val="100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hade val="99000"/>
                <a:satMod val="105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A" sz="2300" kern="1200"/>
            <a:t>Tensor </a:t>
          </a:r>
        </a:p>
      </dsp:txBody>
      <dsp:txXfrm>
        <a:off x="722956" y="2069934"/>
        <a:ext cx="3237090" cy="814350"/>
      </dsp:txXfrm>
    </dsp:sp>
    <dsp:sp modelId="{3DE72F19-9AE1-43BA-B3E8-6A57349446F7}">
      <dsp:nvSpPr>
        <dsp:cNvPr id="0" name=""/>
        <dsp:cNvSpPr/>
      </dsp:nvSpPr>
      <dsp:spPr>
        <a:xfrm>
          <a:off x="1049053" y="3066897"/>
          <a:ext cx="4196215" cy="86502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0000"/>
                <a:lumMod val="100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hade val="99000"/>
                <a:satMod val="105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A" sz="2300" kern="1200" dirty="0"/>
            <a:t>Normalized Output</a:t>
          </a:r>
        </a:p>
      </dsp:txBody>
      <dsp:txXfrm>
        <a:off x="1074389" y="3092233"/>
        <a:ext cx="3231845" cy="814350"/>
      </dsp:txXfrm>
    </dsp:sp>
    <dsp:sp modelId="{2DF9C0AF-2E26-4A2C-B2CA-462351A31242}">
      <dsp:nvSpPr>
        <dsp:cNvPr id="0" name=""/>
        <dsp:cNvSpPr/>
      </dsp:nvSpPr>
      <dsp:spPr>
        <a:xfrm>
          <a:off x="3633950" y="662528"/>
          <a:ext cx="562264" cy="562264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2600" kern="1200"/>
        </a:p>
      </dsp:txBody>
      <dsp:txXfrm>
        <a:off x="3760459" y="662528"/>
        <a:ext cx="309246" cy="423104"/>
      </dsp:txXfrm>
    </dsp:sp>
    <dsp:sp modelId="{A7ED20FF-F257-4F09-9A39-4ADF482219EE}">
      <dsp:nvSpPr>
        <dsp:cNvPr id="0" name=""/>
        <dsp:cNvSpPr/>
      </dsp:nvSpPr>
      <dsp:spPr>
        <a:xfrm>
          <a:off x="3985383" y="1684827"/>
          <a:ext cx="562264" cy="562264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2600" kern="1200"/>
        </a:p>
      </dsp:txBody>
      <dsp:txXfrm>
        <a:off x="4111892" y="1684827"/>
        <a:ext cx="309246" cy="423104"/>
      </dsp:txXfrm>
    </dsp:sp>
    <dsp:sp modelId="{1AEB3922-8FA0-4B6A-8D09-965FE05A76AC}">
      <dsp:nvSpPr>
        <dsp:cNvPr id="0" name=""/>
        <dsp:cNvSpPr/>
      </dsp:nvSpPr>
      <dsp:spPr>
        <a:xfrm>
          <a:off x="4331571" y="2707126"/>
          <a:ext cx="562264" cy="562264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2600" kern="1200"/>
        </a:p>
      </dsp:txBody>
      <dsp:txXfrm>
        <a:off x="4458080" y="2707126"/>
        <a:ext cx="309246" cy="4231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C1735C-48A4-4DE7-9558-DE491713ED07}" type="datetimeFigureOut">
              <a:rPr lang="en-CA" smtClean="0"/>
              <a:t>2026-03-10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DDA37C-A075-4AD5-9C4E-D37BA7B78D8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43112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DDA37C-A075-4AD5-9C4E-D37BA7B78D8F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42019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223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471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492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189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497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463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044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3/10/2026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667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3/10/2026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06583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757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589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CA"/>
          </a:p>
        </p:txBody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207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  <p:sldLayoutId id="2147483787" r:id="rId3"/>
    <p:sldLayoutId id="2147483788" r:id="rId4"/>
    <p:sldLayoutId id="2147483778" r:id="rId5"/>
    <p:sldLayoutId id="2147483784" r:id="rId6"/>
    <p:sldLayoutId id="2147483779" r:id="rId7"/>
    <p:sldLayoutId id="2147483780" r:id="rId8"/>
    <p:sldLayoutId id="2147483781" r:id="rId9"/>
    <p:sldLayoutId id="2147483782" r:id="rId10"/>
    <p:sldLayoutId id="214748378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9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5940C36-2776-0501-5966-3C21CB49B0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01" b="200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314" y="0"/>
            <a:ext cx="6525472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38682" y="320040"/>
            <a:ext cx="5888736" cy="6217920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4F8031-8740-808E-45A0-B0E6533942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8316" y="1348844"/>
            <a:ext cx="5409468" cy="3042706"/>
          </a:xfrm>
        </p:spPr>
        <p:txBody>
          <a:bodyPr>
            <a:normAutofit/>
          </a:bodyPr>
          <a:lstStyle/>
          <a:p>
            <a:r>
              <a:rPr lang="en-US" altLang="en-US" sz="3800" b="0">
                <a:solidFill>
                  <a:schemeClr val="tx1"/>
                </a:solidFill>
                <a:latin typeface="Arial" panose="020B0604020202020204" pitchFamily="34" charset="0"/>
              </a:rPr>
              <a:t>Image Classification of Crop Diseases Using Deep Learning</a:t>
            </a:r>
            <a:br>
              <a:rPr lang="en-US" altLang="en-US" sz="3800" b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CA" sz="3800">
              <a:solidFill>
                <a:schemeClr val="tx1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E7DEBA8-2D7B-41ED-7FA6-CB44EBB8724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78316" y="4682061"/>
            <a:ext cx="5409468" cy="95097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lv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</a:pPr>
            <a:r>
              <a:rPr lang="en-CA" sz="1600" b="1" dirty="0"/>
              <a:t>Presenter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:Ethan</a:t>
            </a:r>
            <a:r>
              <a:rPr kumimoji="0" lang="en-US" altLang="en-US" sz="17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Hazari</a:t>
            </a:r>
          </a:p>
          <a:p>
            <a:pPr lv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1700" b="1" baseline="0" dirty="0">
                <a:solidFill>
                  <a:schemeClr val="tx1"/>
                </a:solidFill>
                <a:latin typeface="Arial" panose="020B0604020202020204" pitchFamily="34" charset="0"/>
              </a:rPr>
              <a:t>Student</a:t>
            </a:r>
            <a:r>
              <a:rPr lang="en-US" altLang="en-US" sz="1700" b="1" dirty="0">
                <a:solidFill>
                  <a:schemeClr val="tx1"/>
                </a:solidFill>
                <a:latin typeface="Arial" panose="020B0604020202020204" pitchFamily="34" charset="0"/>
              </a:rPr>
              <a:t> Id</a:t>
            </a:r>
            <a:r>
              <a:rPr lang="en-US" altLang="en-US" sz="1700" dirty="0">
                <a:solidFill>
                  <a:schemeClr val="tx1"/>
                </a:solidFill>
                <a:latin typeface="Arial" panose="020B0604020202020204" pitchFamily="34" charset="0"/>
              </a:rPr>
              <a:t>:</a:t>
            </a:r>
            <a:r>
              <a:rPr lang="en-CA" sz="1700" dirty="0">
                <a:solidFill>
                  <a:schemeClr val="tx1"/>
                </a:solidFill>
              </a:rPr>
              <a:t>400673849</a:t>
            </a:r>
          </a:p>
          <a:p>
            <a:pPr lv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CA" altLang="en-US" sz="1700" b="1" dirty="0">
                <a:solidFill>
                  <a:schemeClr val="tx1"/>
                </a:solidFill>
                <a:latin typeface="Arial" panose="020B0604020202020204" pitchFamily="34" charset="0"/>
              </a:rPr>
              <a:t>Email</a:t>
            </a:r>
            <a:r>
              <a:rPr lang="en-CA" altLang="en-US" sz="1700" dirty="0">
                <a:solidFill>
                  <a:schemeClr val="tx1"/>
                </a:solidFill>
                <a:latin typeface="Arial" panose="020B0604020202020204" pitchFamily="34" charset="0"/>
              </a:rPr>
              <a:t>:hazarm3@mcmaster.ca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0758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1657BF2-BFFB-4FF0-9FE2-4D7F7A7C9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397171-E233-4F26-9A8C-29C436537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4393" y="237744"/>
            <a:ext cx="7652977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830B9C-C9EB-4D80-9552-AE9DE30758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553" y="374904"/>
            <a:ext cx="734015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BAC066-8C26-F1EA-44FF-D0DB2E27E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642593"/>
            <a:ext cx="6281928" cy="1744183"/>
          </a:xfrm>
        </p:spPr>
        <p:txBody>
          <a:bodyPr>
            <a:normAutofit/>
          </a:bodyPr>
          <a:lstStyle/>
          <a:p>
            <a:r>
              <a:rPr lang="en-CA" b="1"/>
              <a:t>Problem Statement &amp; Objectives</a:t>
            </a:r>
            <a:endParaRPr lang="en-CA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506D8-D27F-5BD5-7CE7-F73D7EF888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8680" y="2386584"/>
            <a:ext cx="6281928" cy="36484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b="1" dirty="0"/>
              <a:t>Title:</a:t>
            </a:r>
            <a:r>
              <a:rPr lang="en-CA" dirty="0"/>
              <a:t> Introduction &amp; Objectives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CA" b="1" dirty="0"/>
              <a:t>The Problem : </a:t>
            </a:r>
            <a:r>
              <a:rPr lang="en-CA" dirty="0"/>
              <a:t>Crop disease significantly impact agricultural yield. Early and accurate detection is critical.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CA" b="1" dirty="0"/>
              <a:t>The Objective :</a:t>
            </a:r>
            <a:r>
              <a:rPr lang="en-CA" dirty="0"/>
              <a:t>Automate disease classification using neural networks.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CA" b="1" dirty="0"/>
              <a:t>The Approach: </a:t>
            </a:r>
            <a:r>
              <a:rPr lang="en-CA" dirty="0"/>
              <a:t>Compare two distinct deep learning architecture to evaluate the trade-off between computational efficiency and classification accuracy.</a:t>
            </a:r>
            <a:endParaRPr lang="en-CA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C4651F-E8CB-A197-461C-440AEF7E50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91" r="6347" b="-2"/>
          <a:stretch>
            <a:fillRect/>
          </a:stretch>
        </p:blipFill>
        <p:spPr>
          <a:xfrm>
            <a:off x="7837371" y="237744"/>
            <a:ext cx="4124416" cy="6382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803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1608AA13-5DEF-478F-A286-EA33B7E0AD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6" y="0"/>
            <a:ext cx="1219386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6306CF9-ED43-47CC-BF50-38B5D2D62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6165" y="282258"/>
            <a:ext cx="5617029" cy="6323816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FFDEF9-7153-A830-C0F2-483A57246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486" y="727626"/>
            <a:ext cx="4602152" cy="1718225"/>
          </a:xfrm>
        </p:spPr>
        <p:txBody>
          <a:bodyPr>
            <a:normAutofit/>
          </a:bodyPr>
          <a:lstStyle/>
          <a:p>
            <a:r>
              <a:rPr lang="en-CA" b="1" dirty="0"/>
              <a:t>Dataset &amp; 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A80E8-C01E-0E43-6D85-9BE6FEF66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766" y="2233649"/>
            <a:ext cx="4602152" cy="3926082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CA" sz="1500" b="1" dirty="0"/>
              <a:t>Title : </a:t>
            </a:r>
            <a:r>
              <a:rPr lang="en-CA" sz="1500" dirty="0"/>
              <a:t>Dataset Preparation &amp; Normalization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CA" sz="1500" b="1" dirty="0"/>
              <a:t>Datasets: </a:t>
            </a:r>
            <a:r>
              <a:rPr lang="en-US" sz="1500" dirty="0"/>
              <a:t>Images of crop leaves categorized into 5 classes (4 disease states, 1 healthy).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CA" sz="1500" b="1" dirty="0"/>
              <a:t>RGB Conversion: </a:t>
            </a:r>
            <a:r>
              <a:rPr lang="en-US" sz="1500" dirty="0"/>
              <a:t>Ensured all images uniformly use the RGB (Red, Green, Blue) color format.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1500" b="1" dirty="0"/>
              <a:t>Resizing: </a:t>
            </a:r>
            <a:r>
              <a:rPr lang="en-US" sz="1500" dirty="0"/>
              <a:t>Standardized all images to 224x224 pixels to meet model input requirements.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1500" b="1" dirty="0"/>
              <a:t>Tensor Conversion : </a:t>
            </a:r>
            <a:r>
              <a:rPr lang="en-US" sz="1500" dirty="0"/>
              <a:t>Transformed raw pixel data (0-255) into </a:t>
            </a:r>
            <a:r>
              <a:rPr lang="en-US" sz="1500" dirty="0" err="1"/>
              <a:t>PyTorch</a:t>
            </a:r>
            <a:r>
              <a:rPr lang="en-US" sz="1500" dirty="0"/>
              <a:t> Tensors (mathematical matrices scaled between 0.0 and 1.0).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1500" b="1" dirty="0"/>
              <a:t>Normalization : </a:t>
            </a:r>
            <a:r>
              <a:rPr lang="en-US" sz="1500" dirty="0"/>
              <a:t>Adjusted color channels using standard mean and standard deviation to stabilize neural network training.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A04476A-E6A0-4959-8949-D4B1AC2A23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20" r="12689" b="-2"/>
          <a:stretch>
            <a:fillRect/>
          </a:stretch>
        </p:blipFill>
        <p:spPr>
          <a:xfrm>
            <a:off x="6013957" y="4123527"/>
            <a:ext cx="2071742" cy="248254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6452791-9A9D-BCD7-FD4F-4AFC8FA200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4" r="14886" b="3"/>
          <a:stretch>
            <a:fillRect/>
          </a:stretch>
        </p:blipFill>
        <p:spPr>
          <a:xfrm>
            <a:off x="8175840" y="3155573"/>
            <a:ext cx="3786002" cy="345049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273E4EC-4EC0-5E61-BAA0-C00ACF4C40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55" r="10835" b="-3"/>
          <a:stretch>
            <a:fillRect/>
          </a:stretch>
        </p:blipFill>
        <p:spPr>
          <a:xfrm>
            <a:off x="6013956" y="282258"/>
            <a:ext cx="3950144" cy="3749831"/>
          </a:xfrm>
          <a:custGeom>
            <a:avLst/>
            <a:gdLst/>
            <a:ahLst/>
            <a:cxnLst/>
            <a:rect l="l" t="t" r="r" b="b"/>
            <a:pathLst>
              <a:path w="3950144" h="3749831">
                <a:moveTo>
                  <a:pt x="0" y="0"/>
                </a:moveTo>
                <a:lnTo>
                  <a:pt x="3950144" y="0"/>
                </a:lnTo>
                <a:lnTo>
                  <a:pt x="3950144" y="2780881"/>
                </a:lnTo>
                <a:lnTo>
                  <a:pt x="2071742" y="2780881"/>
                </a:lnTo>
                <a:lnTo>
                  <a:pt x="2071742" y="3749831"/>
                </a:lnTo>
                <a:lnTo>
                  <a:pt x="0" y="3749831"/>
                </a:lnTo>
                <a:close/>
              </a:path>
            </a:pathLst>
          </a:cu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02F61AC-9FFE-758C-9A02-D00DF5679A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84" r="20517" b="4"/>
          <a:stretch>
            <a:fillRect/>
          </a:stretch>
        </p:blipFill>
        <p:spPr>
          <a:xfrm>
            <a:off x="10052236" y="282261"/>
            <a:ext cx="1909612" cy="2780881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7C2329DA-3535-468A-8479-D10BD6653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3107" y="390070"/>
            <a:ext cx="5343144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52899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26C4D022-E2BC-435F-9CDB-44DC57C070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0CE9499-05FB-FF63-E13B-A13A73CD8D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72" r="2" b="2"/>
          <a:stretch>
            <a:fillRect/>
          </a:stretch>
        </p:blipFill>
        <p:spPr>
          <a:xfrm>
            <a:off x="20" y="10"/>
            <a:ext cx="5663460" cy="3428990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C926CAD6-45B1-4A85-A196-E722067B1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3480" y="0"/>
            <a:ext cx="6525472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E0936D5-2DCE-48A4-93BC-BA7861B4E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81848" y="320040"/>
            <a:ext cx="5888736" cy="6217920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  <p:txBody>
          <a:bodyPr/>
          <a:lstStyle/>
          <a:p>
            <a:endParaRPr lang="en-CA"/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A7B1780D-43B0-F181-5B71-28C3A1590D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5" r="2" b="799"/>
          <a:stretch>
            <a:fillRect/>
          </a:stretch>
        </p:blipFill>
        <p:spPr>
          <a:xfrm>
            <a:off x="20" y="3429000"/>
            <a:ext cx="5663460" cy="3429000"/>
          </a:xfrm>
          <a:prstGeom prst="rect">
            <a:avLst/>
          </a:prstGeom>
        </p:spPr>
      </p:pic>
      <p:graphicFrame>
        <p:nvGraphicFramePr>
          <p:cNvPr id="18" name="Diagram 17">
            <a:extLst>
              <a:ext uri="{FF2B5EF4-FFF2-40B4-BE49-F238E27FC236}">
                <a16:creationId xmlns:a16="http://schemas.microsoft.com/office/drawing/2014/main" id="{B14A7C6C-F1C2-94D6-7564-A329BC6561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1395112"/>
              </p:ext>
            </p:extLst>
          </p:nvPr>
        </p:nvGraphicFramePr>
        <p:xfrm>
          <a:off x="6303580" y="2103120"/>
          <a:ext cx="5245269" cy="3931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38" name="Picture 37">
            <a:extLst>
              <a:ext uri="{FF2B5EF4-FFF2-40B4-BE49-F238E27FC236}">
                <a16:creationId xmlns:a16="http://schemas.microsoft.com/office/drawing/2014/main" id="{9C8293B3-876C-29ED-25E8-F6DA9F01AEC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29000"/>
            <a:ext cx="5648272" cy="3329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5853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8632963-757B-40C2-BB84-FC6107A54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6" y="0"/>
            <a:ext cx="1219386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599583-17A9-D63F-3125-C3112E50DD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076" r="9091" b="10742"/>
          <a:stretch>
            <a:fillRect/>
          </a:stretch>
        </p:blipFill>
        <p:spPr>
          <a:xfrm>
            <a:off x="20" y="-1"/>
            <a:ext cx="12191980" cy="6857999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2853AE55-7E35-44B0-89F1-3F52B262A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7615" y="253548"/>
            <a:ext cx="5612193" cy="6361598"/>
          </a:xfrm>
          <a:prstGeom prst="rect">
            <a:avLst/>
          </a:prstGeom>
          <a:solidFill>
            <a:schemeClr val="bg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C4BE4D-4B50-4F51-9F85-4B5D60B02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448" y="407588"/>
            <a:ext cx="5299768" cy="6022878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4735A9-DCE6-0FC2-1340-D7F6B5A38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043" y="727626"/>
            <a:ext cx="4602152" cy="1718225"/>
          </a:xfrm>
        </p:spPr>
        <p:txBody>
          <a:bodyPr>
            <a:normAutofit/>
          </a:bodyPr>
          <a:lstStyle/>
          <a:p>
            <a:r>
              <a:rPr lang="en-CA" sz="4400"/>
              <a:t>Evaluation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AB8A6-B9EB-BF2F-4974-9A378CF9B1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043" y="2538920"/>
            <a:ext cx="4602152" cy="34800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Title:</a:t>
            </a:r>
            <a:r>
              <a:rPr lang="en-US" dirty="0"/>
              <a:t> Rigorous Testing via K-Fold Cross-Validation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CA" b="1" dirty="0"/>
              <a:t>Methodology:</a:t>
            </a:r>
            <a:r>
              <a:rPr lang="en-CA" dirty="0"/>
              <a:t>3-Fold Cross-Validation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CA" b="1" dirty="0"/>
              <a:t>Definition:</a:t>
            </a:r>
            <a:r>
              <a:rPr lang="en-US" dirty="0"/>
              <a:t>The dataset is split into 3 equal parts. The model trains on 2 parts and tests on the 3rd. This rotates until all parts have been used for testing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CA" b="1" dirty="0"/>
              <a:t>Why use it? </a:t>
            </a:r>
            <a:r>
              <a:rPr lang="en-US"/>
              <a:t>Prevents data bias, ensures the model generalizes well to unseen data, and provides a highly reliable average accuracy score</a:t>
            </a: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4170369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78632963-757B-40C2-BB84-FC6107A54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6" y="0"/>
            <a:ext cx="1219386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853AE55-7E35-44B0-89F1-3F52B262A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39709" y="253548"/>
            <a:ext cx="5612193" cy="6361598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BC4BE4D-4B50-4F51-9F85-4B5D60B02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87542" y="407588"/>
            <a:ext cx="5299768" cy="6022878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888A4A-4C2D-2341-B961-0F3692487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6137" y="804073"/>
            <a:ext cx="4602152" cy="1345449"/>
          </a:xfrm>
        </p:spPr>
        <p:txBody>
          <a:bodyPr>
            <a:normAutofit/>
          </a:bodyPr>
          <a:lstStyle/>
          <a:p>
            <a:r>
              <a:rPr lang="en-US" sz="3400" dirty="0"/>
              <a:t>Method 1 - Baseline Custom Model</a:t>
            </a:r>
            <a:endParaRPr lang="en-CA" sz="3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4ACE00-6F40-3379-C0CB-7C97DA35D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67" y="407588"/>
            <a:ext cx="6230683" cy="29409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7B95D70-E192-73D6-2513-14320D63CD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8" r="13329"/>
          <a:stretch>
            <a:fillRect/>
          </a:stretch>
        </p:blipFill>
        <p:spPr>
          <a:xfrm>
            <a:off x="1650714" y="3509433"/>
            <a:ext cx="3046499" cy="277179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75635-CFCA-C5B3-775C-683F41D41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6137" y="2303563"/>
            <a:ext cx="4602152" cy="37154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/>
              <a:t>Title:</a:t>
            </a:r>
            <a:r>
              <a:rPr lang="en-US"/>
              <a:t> Method 1: Simple CNN (Baseline)</a:t>
            </a:r>
          </a:p>
          <a:p>
            <a:r>
              <a:rPr lang="en-US" b="1"/>
              <a:t>Architecture:</a:t>
            </a:r>
            <a:r>
              <a:rPr lang="en-US"/>
              <a:t> A lightweight, custom-built Convolutional Neural Network (</a:t>
            </a:r>
            <a:r>
              <a:rPr lang="en-US" b="1"/>
              <a:t>CNN</a:t>
            </a:r>
            <a:r>
              <a:rPr lang="en-US"/>
              <a:t>)</a:t>
            </a:r>
          </a:p>
          <a:p>
            <a:r>
              <a:rPr lang="en-US" b="1"/>
              <a:t>CNN Definition:</a:t>
            </a:r>
            <a:r>
              <a:rPr lang="en-US"/>
              <a:t> A network designed to automatically extract spatial features (like edges, textures, and shapes) from images using scanning filters.</a:t>
            </a:r>
          </a:p>
          <a:p>
            <a:r>
              <a:rPr lang="en-US" b="1"/>
              <a:t>Purpose:</a:t>
            </a:r>
            <a:r>
              <a:rPr lang="en-US"/>
              <a:t> Serves as the experimental baseline. It trains very quickly but must learn all visual features from scratch.</a:t>
            </a:r>
          </a:p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17643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78632963-757B-40C2-BB84-FC6107A54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6" y="0"/>
            <a:ext cx="1219386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853AE55-7E35-44B0-89F1-3F52B262A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39709" y="253548"/>
            <a:ext cx="5612193" cy="6361598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BC4BE4D-4B50-4F51-9F85-4B5D60B02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87542" y="407588"/>
            <a:ext cx="5299768" cy="6022878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E9E779-1A9D-72FC-C8E6-7CA18387B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1446" y="568895"/>
            <a:ext cx="4602152" cy="939074"/>
          </a:xfrm>
        </p:spPr>
        <p:txBody>
          <a:bodyPr vert="horz" lIns="91440" tIns="45720" rIns="91440" bIns="45720" rtlCol="0">
            <a:normAutofit fontScale="90000"/>
          </a:bodyPr>
          <a:lstStyle/>
          <a:p>
            <a:r>
              <a:rPr lang="en-US" sz="3200" dirty="0"/>
              <a:t>Baseline Custom Model</a:t>
            </a:r>
            <a:endParaRPr lang="en-US" sz="3200" cap="all" spc="-1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E7AE8A-F948-3A3A-7B10-CBE00F4F08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763" y="619330"/>
            <a:ext cx="4196402" cy="5595203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00C22E-B6F3-A6FA-0847-311A94CBCF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4084" y="1507969"/>
            <a:ext cx="5273225" cy="4898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178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1657BF2-BFFB-4FF0-9FE2-4D7F7A7C9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5397171-E233-4F26-9A8C-29C436537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4393" y="237744"/>
            <a:ext cx="7652977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A830B9C-C9EB-4D80-9552-AE9DE30758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553" y="374904"/>
            <a:ext cx="734015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47B18A-C1DA-0FB8-839F-665092A71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642593"/>
            <a:ext cx="6281928" cy="1744183"/>
          </a:xfrm>
        </p:spPr>
        <p:txBody>
          <a:bodyPr>
            <a:normAutofit/>
          </a:bodyPr>
          <a:lstStyle/>
          <a:p>
            <a:r>
              <a:rPr lang="en-US" b="1"/>
              <a:t>Method 2 - Advanced Transfer Learning</a:t>
            </a:r>
            <a:endParaRPr lang="en-CA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36147-AECD-9468-0810-DB459A31DF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8680" y="2386584"/>
            <a:ext cx="6281928" cy="36484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/>
              <a:t>Title:</a:t>
            </a:r>
            <a:r>
              <a:rPr lang="en-US"/>
              <a:t> Method 2: ResNet50 (Transfer Learning)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/>
              <a:t>Architecture:</a:t>
            </a:r>
            <a:r>
              <a:rPr lang="en-US"/>
              <a:t> ResNet50 (Residual Network with 50 layers).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/>
              <a:t>Transfer Learning Definition:</a:t>
            </a:r>
            <a:r>
              <a:rPr lang="en-US"/>
              <a:t> Taking a massive model pre-trained on millions of standard images and "transferring" its knowledge to our specific crop dataset.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/>
              <a:t>Modification:</a:t>
            </a:r>
            <a:r>
              <a:rPr lang="en-US"/>
              <a:t> The final Fully Connected (</a:t>
            </a:r>
            <a:r>
              <a:rPr lang="en-US" b="1"/>
              <a:t>FC</a:t>
            </a:r>
            <a:r>
              <a:rPr lang="en-US"/>
              <a:t>) layer was replaced to output exactly 5 classes instead of its original 1,000.</a:t>
            </a:r>
          </a:p>
          <a:p>
            <a:pPr marL="0" indent="0">
              <a:buNone/>
            </a:pPr>
            <a:r>
              <a:rPr lang="en-US" b="1"/>
              <a:t>Purpose:</a:t>
            </a:r>
            <a:r>
              <a:rPr lang="en-US"/>
              <a:t> Expected to achieve high accuracy due to pre-learned feature detection, at the cost of higher computation time.</a:t>
            </a:r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9C1C5A-6C91-544E-11A4-27DDF18C6E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54" r="41180"/>
          <a:stretch>
            <a:fillRect/>
          </a:stretch>
        </p:blipFill>
        <p:spPr>
          <a:xfrm>
            <a:off x="7837371" y="237744"/>
            <a:ext cx="4124416" cy="6382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84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70E66-C0DE-4C33-0E28-C05BC06FD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2AAFF-7896-CE13-0B2F-F1AEEF8D2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1446" y="568895"/>
            <a:ext cx="4602152" cy="93907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 b="1" dirty="0"/>
              <a:t>Advanced Transfer Learning</a:t>
            </a:r>
            <a:endParaRPr lang="en-US" sz="2400" cap="all" spc="-1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6051FF-FB85-48AF-7042-A2CD483DAF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763" y="619330"/>
            <a:ext cx="4196402" cy="559520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7A916CF-0BDA-45A8-CE5B-DBCE1E7B2B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1506" y="1405287"/>
            <a:ext cx="5585822" cy="4809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339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904DB13E-F722-4ED6-BB00-556651E95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1D91E3E1-5159-4DA9-8C1A-3897E9094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CA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9EF7E53-E975-4A5C-BF5D-D874044856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5C53263-995C-49EE-9CA6-FE769A7688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E26428D7-C6F3-473D-A360-A3F5C3E87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7FFE657-1F53-4BA2-99ED-71027468AE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3717B2EF-FCC5-4A6E-8AD7-2543509586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2E8BEC20-1CFB-4C38-819D-8EA157D70B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0E7CA313-2F4B-4574-8399-12EF6A1BF2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E07B39-EA6A-509D-5303-76BB5BF3AB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13" r="19790" b="-1"/>
          <a:stretch>
            <a:fillRect/>
          </a:stretch>
        </p:blipFill>
        <p:spPr>
          <a:xfrm>
            <a:off x="-1" y="10"/>
            <a:ext cx="4059936" cy="4530063"/>
          </a:xfrm>
          <a:prstGeom prst="rect">
            <a:avLst/>
          </a:prstGeom>
        </p:spPr>
      </p:pic>
      <p:sp>
        <p:nvSpPr>
          <p:cNvPr id="59" name="Rectangle 58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30074"/>
            <a:ext cx="12192000" cy="2327925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6116" y="4692768"/>
            <a:ext cx="11859768" cy="2002536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FB0906-00FB-C9DF-FE54-44DBBB365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293" y="4956811"/>
            <a:ext cx="11439414" cy="897439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>
              <a:lnSpc>
                <a:spcPct val="83000"/>
              </a:lnSpc>
            </a:pPr>
            <a:r>
              <a:rPr lang="en-US" sz="4400" b="1" cap="all" spc="-100" dirty="0">
                <a:solidFill>
                  <a:schemeClr val="tx1"/>
                </a:solidFill>
              </a:rPr>
              <a:t>Results &amp; Comparison</a:t>
            </a:r>
            <a:br>
              <a:rPr lang="en-US" sz="4400" b="1" cap="all" spc="-100" dirty="0">
                <a:solidFill>
                  <a:schemeClr val="tx1"/>
                </a:solidFill>
              </a:rPr>
            </a:br>
            <a:endParaRPr lang="en-US" sz="4400" b="1" cap="all" spc="-100" dirty="0">
              <a:solidFill>
                <a:schemeClr val="tx1"/>
              </a:solidFill>
            </a:endParaRPr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2A84960F-34C3-CB9A-C4D1-2551FA839D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268" y="14471"/>
            <a:ext cx="8142732" cy="454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1702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1657BF2-BFFB-4FF0-9FE2-4D7F7A7C9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397171-E233-4F26-9A8C-29C436537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4393" y="237744"/>
            <a:ext cx="7652977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830B9C-C9EB-4D80-9552-AE9DE30758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553" y="374904"/>
            <a:ext cx="734015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696644-F9CC-3DFF-FF61-DF5F7FD42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642593"/>
            <a:ext cx="6281928" cy="1744183"/>
          </a:xfrm>
        </p:spPr>
        <p:txBody>
          <a:bodyPr>
            <a:normAutofit/>
          </a:bodyPr>
          <a:lstStyle/>
          <a:p>
            <a:r>
              <a:rPr lang="en-CA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FE695-77D8-6F8E-FDC9-4122D1B31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8680" y="2386584"/>
            <a:ext cx="6281928" cy="364845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The Simple CNN established a fast baseline, successfully performing better than random guessing (41% vs 20%).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Transfer learning via ResNet50 significantly improved accuracy to 65.41%, demonstrating the power of pre-trained networks.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The trade-off is computational cost, as ResNet50 took ~1.57 times longer to train (1784.44 seconds vs 1135.59 seconds).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Final Verdict: For agricultural deployment where accuracy is paramount over training speed, ResNet50 is the superior architecture.</a:t>
            </a:r>
            <a:endParaRPr lang="en-C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BA962F-48F2-582A-9389-F7816FEEB8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29" r="23406"/>
          <a:stretch>
            <a:fillRect/>
          </a:stretch>
        </p:blipFill>
        <p:spPr>
          <a:xfrm>
            <a:off x="7837371" y="237744"/>
            <a:ext cx="4124416" cy="6382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5014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Custom 8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96A9A9"/>
      </a:accent1>
      <a:accent2>
        <a:srgbClr val="CB58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D0690C"/>
      </a:hlink>
      <a:folHlink>
        <a:srgbClr val="9696A0"/>
      </a:folHlink>
    </a:clrScheme>
    <a:fontScheme name="Savon">
      <a:majorFont>
        <a:latin typeface="Century Gothic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520</Words>
  <Application>Microsoft Office PowerPoint</Application>
  <PresentationFormat>Widescreen</PresentationFormat>
  <Paragraphs>45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Arial</vt:lpstr>
      <vt:lpstr>Century Gothic</vt:lpstr>
      <vt:lpstr>Garamond</vt:lpstr>
      <vt:lpstr>Gill Sans MT</vt:lpstr>
      <vt:lpstr>Wingdings</vt:lpstr>
      <vt:lpstr>SavonVTI</vt:lpstr>
      <vt:lpstr>Image Classification of Crop Diseases Using Deep Learning </vt:lpstr>
      <vt:lpstr>Problem Statement &amp; Objectives</vt:lpstr>
      <vt:lpstr>Dataset &amp; Data Preprocessing</vt:lpstr>
      <vt:lpstr>PowerPoint Presentation</vt:lpstr>
      <vt:lpstr>Evaluation Methodology</vt:lpstr>
      <vt:lpstr>Method 1 - Baseline Custom Model</vt:lpstr>
      <vt:lpstr>Baseline Custom Model</vt:lpstr>
      <vt:lpstr>Method 2 - Advanced Transfer Learning</vt:lpstr>
      <vt:lpstr>Advanced Transfer Learning</vt:lpstr>
      <vt:lpstr>Results &amp; Comparison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Hazari</dc:creator>
  <cp:lastModifiedBy>Ethan Hazari</cp:lastModifiedBy>
  <cp:revision>2</cp:revision>
  <dcterms:created xsi:type="dcterms:W3CDTF">2026-03-09T21:49:48Z</dcterms:created>
  <dcterms:modified xsi:type="dcterms:W3CDTF">2026-03-10T18:46:52Z</dcterms:modified>
</cp:coreProperties>
</file>